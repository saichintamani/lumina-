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94CEEA-92CA-4B7B-9FC7-38A962FF0222}">
  <a:tblStyle styleId="{7B94CEEA-92CA-4B7B-9FC7-38A962FF02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fig10_crater_comparison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fig04_cpr_dop_scatter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fig05_landing_traverse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fig03_terrain_classification.png"/><Relationship Id="rId5" Type="http://schemas.openxmlformats.org/officeDocument/2006/relationships/image" Target="../media/fig08_detector_validation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fig09_architecture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fig07_ice_volume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 [YOUR TEAM NAME]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 Detection &amp; Characterization of Subsurface Ice in Lunar South Polar Doubly-Shadowed Craters Using Chandrayaan-2 DFSAR/OHRC Data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 [YOUR NAME]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{7B94CEEA-92CA-4B7B-9FC7-38A962FF0222}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 [YOUR NAME]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 G.H. Raisoni College of Engineering, Nagpur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[TEAMMATE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G.H. Raisoni College of Engineering, Nagpur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N/A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(2-member team)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N/A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(2-member team)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500000"/>
            <a:ext cx="8520600" cy="2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11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Our Approach: Differentiation, Solution Path &amp; USP</a:t>
            </a:r>
            <a:endParaRPr b="0" i="0" sz="11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11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Differentiation: Most teams apply CPR&gt;1 alone (a contested, roughness-confounded metric per Eke et al. 2014, Fa &amp; Eke 2018). We apply the refined two-parameter criterion (CPR&gt;1 AND DOP&lt;0.13) plus an explicit roughness-discrimination layer using slope, separating genuine volumetric-ice signatures from rough-terrain artifacts.</a:t>
            </a:r>
            <a:endParaRPr b="0" i="0" sz="11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11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Solution path: DFSAR CPR/DOP polarimetric mapping to detect ice-bearing pixels -&gt; OHRC-based slope/illumination/roughness terrain analysis -&gt; multi-criteria landing site scoring -&gt; slope-and-power-aware A* rover traverse planning -&gt; dielectric-mixing based ice volume estimation with quantified uncertainty.</a:t>
            </a:r>
            <a:endParaRPr b="0" i="0" sz="11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11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USP: A validated, end-to-end pipeline (built and stress-tested on a physically-motivated synthetic DFSAR scene before real data arrives) that reports uncertainty honestly -- detector precision/recall, ice-volume confidence bounds, and traverse slope-limit sensitivity -- rather than presenting single point answers.</a:t>
            </a:r>
            <a:endParaRPr b="0" i="0" sz="11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8" name="Crater comparison survey figure"/>
          <p:cNvPicPr preferRelativeResize="0"/>
          <p:nvPr/>
        </p:nvPicPr>
        <p:blipFill rotWithShape="1">
          <a:blip r:embed="rId4"/>
          <a:srcRect b="0" l="0" r="0" t="0"/>
          <a:stretch/>
        </p:blipFill>
        <p:spPr>
          <a:xfrm>
            <a:off x="1340000" y="2900000"/>
            <a:ext cx="6466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4700000" cy="4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Key Features of the Proposed Solution</a:t>
            </a:r>
            <a:endParaRPr b="0" i="0" sz="13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Refined two-parameter ice detector (CPR&gt;1 &amp; DOP&lt;0.13) with an added roughness-discrimination layer that flags steep/rough false positives separately from genuine ice candidates.</a:t>
            </a:r>
            <a:endParaRPr b="0" i="0" sz="13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Multi-criteria landing site scorer (slope, illumination, hazard-roughness, comm-range) producing a ranked, auditable shortlist rather than one black-box answer.</a:t>
            </a:r>
            <a:endParaRPr b="0" i="0" sz="13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Slope- and power-aware A* rover traverse planner that auto-detects the gentlest safe rim crossing, with a documented final battery-powered sortie into the PSR.</a:t>
            </a:r>
            <a:endParaRPr b="0" i="0" sz="13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Uncertainty-bounded ice-volume estimator (dielectric-mixing proxy with bootstrap P10-P90 range) instead of a single unjustified number.</a:t>
            </a:r>
            <a:endParaRPr b="0" i="0" sz="13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7" name="CPR-DOP scatter figure"/>
          <p:cNvPicPr preferRelativeResize="0"/>
          <p:nvPr/>
        </p:nvPicPr>
        <p:blipFill rotWithShape="1">
          <a:blip r:embed="rId4"/>
          <a:srcRect b="0" l="0" r="0" t="0"/>
          <a:stretch/>
        </p:blipFill>
        <p:spPr>
          <a:xfrm>
            <a:off x="5150000" y="950000"/>
            <a:ext cx="3680000" cy="3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650000"/>
            <a:ext cx="8520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Flow: Detection -&gt; Landing Site -&gt; Traverse -&gt; Volume Estimate</a:t>
            </a:r>
            <a:endParaRPr b="0" i="0" sz="13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3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Five-stage pipeline (figure below shows Stage 3-4 output: landing site + rover traverse over the doubly-shadowed crater)</a:t>
            </a:r>
            <a:endParaRPr b="0" i="0" sz="13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3" name="Landing site and traverse figure"/>
          <p:cNvPicPr preferRelativeResize="0"/>
          <p:nvPr/>
        </p:nvPicPr>
        <p:blipFill rotWithShape="1">
          <a:blip r:embed="rId4"/>
          <a:srcRect b="0" l="0" r="0" t="0"/>
          <a:stretch/>
        </p:blipFill>
        <p:spPr>
          <a:xfrm>
            <a:off x="2622000" y="1500000"/>
            <a:ext cx="3900000" cy="3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650000"/>
            <a:ext cx="852060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Terrain Classification &amp; Detection Validation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84" name="Terrain classification figure"/>
          <p:cNvPicPr preferRelativeResize="0"/>
          <p:nvPr/>
        </p:nvPicPr>
        <p:blipFill rotWithShape="1">
          <a:blip r:embed="rId4"/>
          <a:srcRect b="0" l="0" r="0" t="0"/>
          <a:stretch/>
        </p:blipFill>
        <p:spPr>
          <a:xfrm>
            <a:off x="250000" y="1350000"/>
            <a:ext cx="4350000" cy="36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Detector validation figure"/>
          <p:cNvPicPr preferRelativeResize="0"/>
          <p:nvPr/>
        </p:nvPicPr>
        <p:blipFill rotWithShape="1">
          <a:blip r:embed="rId5"/>
          <a:srcRect b="0" l="0" r="0" t="0"/>
          <a:stretch/>
        </p:blipFill>
        <p:spPr>
          <a:xfrm>
            <a:off x="4750000" y="1500000"/>
            <a:ext cx="4150000" cy="34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650000"/>
            <a:ext cx="852060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System Architecture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95" name="Architecture diagram"/>
          <p:cNvPicPr preferRelativeResize="0"/>
          <p:nvPr/>
        </p:nvPicPr>
        <p:blipFill rotWithShape="1">
          <a:blip r:embed="rId4"/>
          <a:srcRect b="0" l="0" r="0" t="0"/>
          <a:stretch/>
        </p:blipFill>
        <p:spPr>
          <a:xfrm>
            <a:off x="180000" y="1330000"/>
            <a:ext cx="8780000" cy="37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5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Geospatial / radar processing: Python, NumPy, SciPy, rasterio, GDAL (DFSAR/OHRC ingestion, calibration, multilook, orthorectification); Birchak/CRIM dielectric mixing model for ice-fraction inversion</a:t>
            </a:r>
            <a:endParaRPr b="0" i="0" sz="15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GIS / terrain analysis: QGIS / ArcGIS for DEM-derived slope, roughness, and illumination-model cross-checks against our Python pipeline</a:t>
            </a:r>
            <a:endParaRPr b="0" i="0" sz="15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Path planning: A* search (custom implementation) with slope- and illumination-aware edge costs; auto-relaxation logic for steep rim crossings</a:t>
            </a:r>
            <a:endParaRPr b="0" i="0" sz="15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Visualization &amp; reporting: Matplotlib (publication-quality figures), Claude Code (pipeline development &amp; iteration), Pandoc/LaTeX (PDF report)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5100000" cy="3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(Software/Algorithm Scope)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This problem statement asks for a detection/planning methodology, not deployable flight hardware -- so cost here means compute &amp; tooling cost to run the pipeline, not spacecraft/rover hardware cost (which is out of scope and would require ISRO mission-engineering inputs we don't have).</a:t>
            </a:r>
            <a:endParaRPr b="0" i="0" sz="15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All processing (CPR/DOP, classification, traverse planning, volume estimation) runs on a single CPU core in under 2 minutes per crater scene at 512x512 resolution -- no GPU or specialized hardware required, making it deployable on standard ISRO ground-segment workstations at near-zero marginal cost.</a:t>
            </a:r>
            <a:endParaRPr b="0" i="0" sz="1500" u="none" cap="none" strike="noStrike"/>
          </a:p>
        </p:txBody>
      </p:sp>
      <p:pic>
        <p:nvPicPr>
          <p:cNvPr id="96" name="Ice volume estimate figure"/>
          <p:cNvPicPr preferRelativeResize="0"/>
          <p:nvPr/>
        </p:nvPicPr>
        <p:blipFill rotWithShape="1">
          <a:blip r:embed="rId4"/>
          <a:srcRect b="0" l="0" r="0" t="0"/>
          <a:stretch/>
        </p:blipFill>
        <p:spPr>
          <a:xfrm>
            <a:off x="5550000" y="950000"/>
            <a:ext cx="3300000" cy="37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