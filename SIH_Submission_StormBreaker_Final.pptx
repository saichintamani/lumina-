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Problem Statement ID - [Leave Blank]</a:t>
            </a:r>
            <a:endParaRPr lang="en-US" dirty="0"/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Problem Statement Title - Detection &amp; Characterization of Subsurface Ice in Lunar South Polar Doubly-Shadowed Craters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Theme - Space Technology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PS Category - Software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Team ID - [Leave Blank]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Team Name (Registered on portal) - storm Breaker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IDEA TITLE: Lumina - Lunar Digital Twin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b="1" sz="2000"/>
            </a:pPr>
            <a:r>
              <a:t>Proposed Solution: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800"/>
            </a:pPr>
            <a:r>
              <a:t>• A real-time 3D browser-native Digital Twin mirroring Faustini Crater using Chandrayaan-2 DFSAR and CLASS data.</a:t>
            </a:r>
          </a:p>
          <a:p>
            <a:pPr>
              <a:defRPr sz="1800"/>
            </a:pPr>
            <a:r>
              <a:t>• Orchestrates 64 autonomous micro-rovers using Boids Swarm Algorithm for optimal sub-surface ice mapping.</a:t>
            </a:r>
          </a:p>
          <a:p>
            <a:pPr>
              <a:defRPr sz="1800"/>
            </a:pPr>
            <a:r>
              <a:t>• Unique USP: Explainable AI reasoning cards and physics-accurate 2.6-second Earth-Moon latency simulator.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/>
              <a:t>storm Breaker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creenshot2_missioncon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7315200" cy="39380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b="1" sz="2000"/>
            </a:pPr>
            <a:r>
              <a:t>Core Tech Stack:</a:t>
            </a:r>
          </a:p>
          <a:p>
            <a:pPr>
              <a:defRPr sz="1800"/>
            </a:pPr>
            <a:r>
              <a:t>• Frontend &amp; 3D: Next.js 16, React 19, Three.js, React Three Fiber (WebGL 60FPS).</a:t>
            </a:r>
          </a:p>
          <a:p>
            <a:pPr>
              <a:defRPr sz="1800"/>
            </a:pPr>
            <a:r>
              <a:t>• AI &amp; Data: TensorFlow.js (NavCam CV), Zustand (State), Craig Reynolds' Boids Algorithm.</a:t>
            </a:r>
          </a:p>
          <a:p>
            <a:pPr>
              <a:defRPr sz="1800"/>
            </a:pPr>
            <a:r>
              <a:t>• No-Server Architecture: Runs 100% client-side via Vercel for zero infrastructure cost.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/>
              <a:t>storm Breaker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lumina_architecture_diagram_17827378651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92608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2000"/>
            </a:pPr>
            <a:r>
              <a:t>Feasibility &amp; Risk Mitigation: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800"/>
            </a:pPr>
            <a:r>
              <a:t>• High Feasibility: Built entirely on open-source tools and publicly available ISRO/NASA datasets.</a:t>
            </a:r>
          </a:p>
          <a:p>
            <a:pPr>
              <a:defRPr sz="1800"/>
            </a:pPr>
            <a:r>
              <a:t>• Challenge: Rendering 64 complex 3D rovers without lag.</a:t>
            </a:r>
          </a:p>
          <a:p>
            <a:pPr>
              <a:defRPr sz="1800"/>
            </a:pPr>
            <a:r>
              <a:t>• Solution: Utilizes Three.js InstancedMesh to draw all rovers in a single GPU draw call.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/>
              <a:t>storm Breaker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creenshot3_navc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6080"/>
            <a:ext cx="7315200" cy="47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2000"/>
            </a:pPr>
            <a:r>
              <a:t>Strategic Impact for ISRO:</a:t>
            </a:r>
          </a:p>
          <a:p>
            <a:pPr>
              <a:defRPr sz="1800"/>
            </a:pPr>
            <a:r>
              <a:t>• Pre-deployment Testing: Allows mission planners to simulate complex multi-agent swarms safely.</a:t>
            </a:r>
          </a:p>
          <a:p>
            <a:pPr>
              <a:defRPr sz="1800"/>
            </a:pPr>
            <a:r>
              <a:t>• Explainable AI: Builds trust between human operators and AI by visualizing exact reasoning and confidence bounds.</a:t>
            </a:r>
          </a:p>
          <a:p>
            <a:pPr>
              <a:defRPr sz="1800"/>
            </a:pPr>
            <a:r>
              <a:t>• Cost Efficiency: Instant accessibility across teams directly via web browser without specialized hardware.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/>
              <a:t>storm Breaker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creenshot1_l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7315200" cy="394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2000"/>
            </a:pPr>
            <a:r>
              <a:t>Research &amp; Data Sources: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800"/>
            </a:pPr>
            <a:r>
              <a:t>• Chandrayaan-2 Dual-Frequency Synthetic Aperture Radar (DFSAR) parameters (CPR &gt; 1, DOP &lt; 0.13).</a:t>
            </a:r>
          </a:p>
          <a:p>
            <a:pPr>
              <a:defRPr sz="1800"/>
            </a:pPr>
            <a:r>
              <a:t>• Chandrayaan-2 CLASS X-Ray Spectrometer and NASA LOLA Altimeter.</a:t>
            </a:r>
          </a:p>
          <a:p>
            <a:pPr>
              <a:defRPr sz="1800"/>
            </a:pPr>
            <a:r>
              <a:t>• Craig Reynolds' Flocks, Herds, and Schools: A Distributed Behavioral Model (Boids).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/>
              <a:t>storm Breaker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